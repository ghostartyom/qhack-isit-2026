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embeddedFontLst>
    <p:embeddedFont>
      <p:font typeface="Architects Daughter" panose="02010600030101010101" charset="0"/>
      <p:regular r:id="rId15"/>
    </p:embeddedFont>
    <p:embeddedFont>
      <p:font typeface="Helvetica Neue" panose="02010600030101010101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gYRGHYQkYknKtxfm+ZjKjFZeMs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1786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Information theory is the physics of information!</a:t>
            </a:r>
            <a:endParaRPr/>
          </a:p>
        </p:txBody>
      </p:sp>
      <p:sp>
        <p:nvSpPr>
          <p:cNvPr id="90" name="Google Shape;9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dd461d0d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Information theory is the physics of information!</a:t>
            </a:r>
            <a:endParaRPr/>
          </a:p>
        </p:txBody>
      </p:sp>
      <p:sp>
        <p:nvSpPr>
          <p:cNvPr id="106" name="Google Shape;106;g3edd461d0d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5" name="Google Shape;13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4" name="Google Shape;14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5" name="Google Shape;15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5" name="Google Shape;1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4" name="Google Shape;17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5" name="Google Shape;1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5" name="Google Shape;19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8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body" idx="2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457201" y="1435102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 rot="5400000">
            <a:off x="2309020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 rot="5400000">
            <a:off x="4732339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 rot="5400000">
            <a:off x="541339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.jp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mailto:yewang2022@ustc.edu.cn" TargetMode="External"/><Relationship Id="rId3" Type="http://schemas.openxmlformats.org/officeDocument/2006/relationships/hyperlink" Target="mailto:mdaamir@umich.edu" TargetMode="External"/><Relationship Id="rId7" Type="http://schemas.openxmlformats.org/officeDocument/2006/relationships/hyperlink" Target="mailto:shif26@mail.sysu.edu.cn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ysu.edu.cn/sysuen/" TargetMode="External"/><Relationship Id="rId5" Type="http://schemas.openxmlformats.org/officeDocument/2006/relationships/hyperlink" Target="mailto:xma@tsinghua.edu.cn" TargetMode="External"/><Relationship Id="rId4" Type="http://schemas.openxmlformats.org/officeDocument/2006/relationships/hyperlink" Target="mailto:khac-hoang.ngo@liu.se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IsJByWeQThS1b1uQ2JVVHlhtyd1-PxXV/edit?usp=sharing&amp;ouid=115801497652314691631&amp;rtpof=true&amp;sd=true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g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presentation/d/1Jj7GftpUmhr9kAlBkEGm1wEwBN2OUh3mDRPzAHpn2wQ/edit?usp=sharing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g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hyperlink" Target="https://bitsbotsaixin-cvm5928.slack.com/archives/C0B24GK1RTK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shif26@mail.sysu.edu.cn" TargetMode="External"/><Relationship Id="rId5" Type="http://schemas.openxmlformats.org/officeDocument/2006/relationships/hyperlink" Target="mailto:stefano.rini@nycu.edu.tw" TargetMode="External"/><Relationship Id="rId4" Type="http://schemas.openxmlformats.org/officeDocument/2006/relationships/hyperlink" Target="mailto:mdaamir@umich.edu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-211842" y="4172585"/>
            <a:ext cx="9567672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Welcome to the </a:t>
            </a:r>
            <a:br>
              <a:rPr lang="en-US"/>
            </a:br>
            <a:r>
              <a:rPr lang="en-US"/>
              <a:t>ISIT26 Quantum Hackathon</a:t>
            </a:r>
            <a:endParaRPr/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76502" y="1513302"/>
            <a:ext cx="5390984" cy="2521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2210463" cy="84363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"/>
          <p:cNvSpPr txBox="1"/>
          <p:nvPr/>
        </p:nvSpPr>
        <p:spPr>
          <a:xfrm>
            <a:off x="2105221" y="1528409"/>
            <a:ext cx="5227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IEEE International Symposium on Information Theory (ISIT)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 txBox="1"/>
          <p:nvPr/>
        </p:nvSpPr>
        <p:spPr>
          <a:xfrm>
            <a:off x="577721" y="2051618"/>
            <a:ext cx="82827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ISIT is the flagship annual conference of the </a:t>
            </a:r>
            <a:r>
              <a:rPr lang="en-US" sz="140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IEEE Information Theory Society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features plenary talks, over 500 peer-reviewed research papers, social programs, and a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E36C09"/>
                </a:solidFill>
                <a:latin typeface="Arial"/>
                <a:ea typeface="Arial"/>
                <a:cs typeface="Arial"/>
                <a:sym typeface="Arial"/>
              </a:rPr>
              <a:t>quantum hackathon!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586" y="198804"/>
            <a:ext cx="2050882" cy="738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8279" y="3753433"/>
            <a:ext cx="986863" cy="12316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" name="Google Shape;96;p3"/>
          <p:cNvGrpSpPr/>
          <p:nvPr/>
        </p:nvGrpSpPr>
        <p:grpSpPr>
          <a:xfrm>
            <a:off x="1765175" y="3475988"/>
            <a:ext cx="7182102" cy="2080118"/>
            <a:chOff x="373379" y="2649947"/>
            <a:chExt cx="6704100" cy="2080118"/>
          </a:xfrm>
        </p:grpSpPr>
        <p:pic>
          <p:nvPicPr>
            <p:cNvPr id="97" name="Google Shape;97;p3" descr="Wikipedia logo - Wikipedia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87860" y="2649947"/>
              <a:ext cx="587680" cy="5383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" name="Google Shape;98;p3"/>
            <p:cNvSpPr txBox="1"/>
            <p:nvPr/>
          </p:nvSpPr>
          <p:spPr>
            <a:xfrm>
              <a:off x="1218027" y="2765217"/>
              <a:ext cx="3209317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🧠 </a:t>
              </a:r>
              <a:r>
                <a:rPr lang="en-US"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What is Information Theory?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3"/>
            <p:cNvSpPr txBox="1"/>
            <p:nvPr/>
          </p:nvSpPr>
          <p:spPr>
            <a:xfrm>
              <a:off x="373379" y="3221665"/>
              <a:ext cx="6704100" cy="150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202122"/>
                  </a:solidFill>
                  <a:latin typeface="Arial"/>
                  <a:ea typeface="Arial"/>
                  <a:cs typeface="Arial"/>
                  <a:sym typeface="Arial"/>
                </a:rPr>
                <a:t>Information theory</a:t>
              </a:r>
              <a:r>
                <a:rPr lang="en-US" sz="1400" b="0" i="0" u="none" strike="noStrike" cap="none">
                  <a:solidFill>
                    <a:srgbClr val="202122"/>
                  </a:solidFill>
                  <a:latin typeface="Arial"/>
                  <a:ea typeface="Arial"/>
                  <a:cs typeface="Arial"/>
                  <a:sym typeface="Arial"/>
                </a:rPr>
                <a:t> is the mathematical study of the </a:t>
              </a:r>
              <a:r>
                <a:rPr lang="en-US" sz="1400" b="0" i="0" u="none" strike="noStrike" cap="none">
                  <a:solidFill>
                    <a:srgbClr val="3366CC"/>
                  </a:solidFill>
                  <a:latin typeface="Arial"/>
                  <a:ea typeface="Arial"/>
                  <a:cs typeface="Arial"/>
                  <a:sym typeface="Arial"/>
                </a:rPr>
                <a:t>quantification, storage, </a:t>
              </a:r>
              <a:r>
                <a:rPr lang="en-US" sz="1400" b="0" i="0" u="none" strike="noStrike" cap="none">
                  <a:solidFill>
                    <a:srgbClr val="202122"/>
                  </a:solidFill>
                  <a:latin typeface="Arial"/>
                  <a:ea typeface="Arial"/>
                  <a:cs typeface="Arial"/>
                  <a:sym typeface="Arial"/>
                </a:rPr>
                <a:t>and </a:t>
              </a:r>
              <a:r>
                <a:rPr lang="en-US" sz="1400" b="0" i="0" u="none" strike="noStrike" cap="none">
                  <a:solidFill>
                    <a:srgbClr val="3366CC"/>
                  </a:solidFill>
                  <a:latin typeface="Arial"/>
                  <a:ea typeface="Arial"/>
                  <a:cs typeface="Arial"/>
                  <a:sym typeface="Arial"/>
                </a:rPr>
                <a:t>transmission</a:t>
              </a:r>
              <a:r>
                <a:rPr lang="en-US" sz="1400" b="0" i="0" u="none" strike="noStrike" cap="none">
                  <a:solidFill>
                    <a:srgbClr val="202122"/>
                  </a:solidFill>
                  <a:latin typeface="Arial"/>
                  <a:ea typeface="Arial"/>
                  <a:cs typeface="Arial"/>
                  <a:sym typeface="Arial"/>
                </a:rPr>
                <a:t> of </a:t>
              </a:r>
              <a:r>
                <a:rPr lang="en-US" sz="1400" b="0" i="0" u="none" strike="noStrike" cap="none">
                  <a:solidFill>
                    <a:srgbClr val="3366CC"/>
                  </a:solidFill>
                  <a:latin typeface="Arial"/>
                  <a:ea typeface="Arial"/>
                  <a:cs typeface="Arial"/>
                  <a:sym typeface="Arial"/>
                </a:rPr>
                <a:t>information</a:t>
              </a:r>
              <a:r>
                <a:rPr lang="en-US" sz="1400" b="0" i="0" u="none" strike="noStrike" cap="none">
                  <a:solidFill>
                    <a:srgbClr val="202122"/>
                  </a:solidFill>
                  <a:latin typeface="Arial"/>
                  <a:ea typeface="Arial"/>
                  <a:cs typeface="Arial"/>
                  <a:sym typeface="Arial"/>
                </a:rPr>
                <a:t>. The field was established and formalized by </a:t>
              </a:r>
              <a:r>
                <a:rPr lang="en-US" sz="1400" b="0" i="0" u="none" strike="noStrike" cap="none">
                  <a:solidFill>
                    <a:srgbClr val="3366CC"/>
                  </a:solidFill>
                  <a:latin typeface="Arial"/>
                  <a:ea typeface="Arial"/>
                  <a:cs typeface="Arial"/>
                  <a:sym typeface="Arial"/>
                </a:rPr>
                <a:t>Claude Shannon</a:t>
              </a:r>
              <a:r>
                <a:rPr lang="en-US" sz="1400" b="0" i="0" u="none" strike="noStrike" cap="none">
                  <a:solidFill>
                    <a:srgbClr val="202122"/>
                  </a:solidFill>
                  <a:latin typeface="Arial"/>
                  <a:ea typeface="Arial"/>
                  <a:cs typeface="Arial"/>
                  <a:sym typeface="Arial"/>
                </a:rPr>
                <a:t> in the 1940s.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📡  </a:t>
              </a:r>
              <a:r>
                <a:rPr lang="en-US" sz="1600" b="0" i="0" u="none" strike="noStrike" cap="none">
                  <a:solidFill>
                    <a:srgbClr val="202122"/>
                  </a:solidFill>
                  <a:latin typeface="Calibri"/>
                  <a:ea typeface="Calibri"/>
                  <a:cs typeface="Calibri"/>
                  <a:sym typeface="Calibri"/>
                </a:rPr>
                <a:t>Applications:  </a:t>
              </a:r>
              <a:r>
                <a:rPr lang="en-US" sz="1600" b="0" i="0" u="none" strike="noStrike" cap="none">
                  <a:solidFill>
                    <a:srgbClr val="3366CC"/>
                  </a:solidFill>
                  <a:latin typeface="Calibri"/>
                  <a:ea typeface="Calibri"/>
                  <a:cs typeface="Calibri"/>
                  <a:sym typeface="Calibri"/>
                </a:rPr>
                <a:t>wireless communication</a:t>
              </a:r>
              <a:r>
                <a:rPr lang="en-US" sz="1600" b="0" i="0" u="none" strike="noStrike" cap="none">
                  <a:solidFill>
                    <a:srgbClr val="202122"/>
                  </a:solidFill>
                  <a:latin typeface="Calibri"/>
                  <a:ea typeface="Calibri"/>
                  <a:cs typeface="Calibri"/>
                  <a:sym typeface="Calibri"/>
                </a:rPr>
                <a:t>, </a:t>
              </a:r>
              <a:r>
                <a:rPr lang="en-US" sz="1600" b="0" i="0" u="none" strike="noStrike" cap="none">
                  <a:solidFill>
                    <a:srgbClr val="3366CC"/>
                  </a:solidFill>
                  <a:latin typeface="Calibri"/>
                  <a:ea typeface="Calibri"/>
                  <a:cs typeface="Calibri"/>
                  <a:sym typeface="Calibri"/>
                </a:rPr>
                <a:t>mathematics</a:t>
              </a:r>
              <a:r>
                <a:rPr lang="en-US" sz="1600" b="0" i="0" u="none" strike="noStrike" cap="none">
                  <a:solidFill>
                    <a:srgbClr val="202122"/>
                  </a:solidFill>
                  <a:latin typeface="Calibri"/>
                  <a:ea typeface="Calibri"/>
                  <a:cs typeface="Calibri"/>
                  <a:sym typeface="Calibri"/>
                </a:rPr>
                <a:t>, </a:t>
              </a:r>
              <a:r>
                <a:rPr lang="en-US" sz="1600" b="0" i="0" u="none" strike="noStrike" cap="none">
                  <a:solidFill>
                    <a:srgbClr val="3366CC"/>
                  </a:solidFill>
                  <a:latin typeface="Calibri"/>
                  <a:ea typeface="Calibri"/>
                  <a:cs typeface="Calibri"/>
                  <a:sym typeface="Calibri"/>
                </a:rPr>
                <a:t>statistics</a:t>
              </a:r>
              <a:r>
                <a:rPr lang="en-US" sz="1600" b="0" i="0" u="none" strike="noStrike" cap="none">
                  <a:solidFill>
                    <a:srgbClr val="202122"/>
                  </a:solidFill>
                  <a:latin typeface="Calibri"/>
                  <a:ea typeface="Calibri"/>
                  <a:cs typeface="Calibri"/>
                  <a:sym typeface="Calibri"/>
                </a:rPr>
                <a:t>, </a:t>
              </a:r>
              <a:r>
                <a:rPr lang="en-US" sz="1600" b="0" i="0" u="none" strike="noStrike" cap="none">
                  <a:solidFill>
                    <a:srgbClr val="3366CC"/>
                  </a:solidFill>
                  <a:latin typeface="Calibri"/>
                  <a:ea typeface="Calibri"/>
                  <a:cs typeface="Calibri"/>
                  <a:sym typeface="Calibri"/>
                </a:rPr>
                <a:t>computer science</a:t>
              </a:r>
              <a:r>
                <a:rPr lang="en-US" sz="1600" b="0" i="0" u="none" strike="noStrike" cap="none">
                  <a:solidFill>
                    <a:srgbClr val="202122"/>
                  </a:solidFill>
                  <a:latin typeface="Calibri"/>
                  <a:ea typeface="Calibri"/>
                  <a:cs typeface="Calibri"/>
                  <a:sym typeface="Calibri"/>
                </a:rPr>
                <a:t>, </a:t>
              </a:r>
              <a:r>
                <a:rPr lang="en-US" sz="1600" b="0" i="0" u="none" strike="noStrike" cap="none">
                  <a:solidFill>
                    <a:srgbClr val="3366CC"/>
                  </a:solidFill>
                  <a:latin typeface="Calibri"/>
                  <a:ea typeface="Calibri"/>
                  <a:cs typeface="Calibri"/>
                  <a:sym typeface="Calibri"/>
                </a:rPr>
                <a:t>neuroscience</a:t>
              </a:r>
              <a:r>
                <a:rPr lang="en-US" sz="1600" b="0" i="0" u="none" strike="noStrike" cap="none">
                  <a:solidFill>
                    <a:srgbClr val="202122"/>
                  </a:solidFill>
                  <a:latin typeface="Calibri"/>
                  <a:ea typeface="Calibri"/>
                  <a:cs typeface="Calibri"/>
                  <a:sym typeface="Calibri"/>
                </a:rPr>
                <a:t>, </a:t>
              </a:r>
              <a:r>
                <a:rPr lang="en-US" sz="1600" b="0" i="0" u="none" strike="noStrike" cap="none">
                  <a:solidFill>
                    <a:srgbClr val="3366CC"/>
                  </a:solidFill>
                  <a:latin typeface="Calibri"/>
                  <a:ea typeface="Calibri"/>
                  <a:cs typeface="Calibri"/>
                  <a:sym typeface="Calibri"/>
                </a:rPr>
                <a:t>physics</a:t>
              </a:r>
              <a:r>
                <a:rPr lang="en-US" sz="1600" b="0" i="0" u="none" strike="noStrike" cap="none">
                  <a:solidFill>
                    <a:srgbClr val="202122"/>
                  </a:solidFill>
                  <a:latin typeface="Calibri"/>
                  <a:ea typeface="Calibri"/>
                  <a:cs typeface="Calibri"/>
                  <a:sym typeface="Calibri"/>
                </a:rPr>
                <a:t>, and </a:t>
              </a:r>
              <a:r>
                <a:rPr lang="en-US" sz="1600" b="0" i="0" u="none" strike="noStrike" cap="none">
                  <a:solidFill>
                    <a:srgbClr val="3366CC"/>
                  </a:solidFill>
                  <a:latin typeface="Calibri"/>
                  <a:ea typeface="Calibri"/>
                  <a:cs typeface="Calibri"/>
                  <a:sym typeface="Calibri"/>
                </a:rPr>
                <a:t>electronics.</a:t>
              </a:r>
              <a:r>
                <a:rPr lang="en-US" sz="2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3"/>
          <p:cNvSpPr txBox="1"/>
          <p:nvPr/>
        </p:nvSpPr>
        <p:spPr>
          <a:xfrm>
            <a:off x="196453" y="5059435"/>
            <a:ext cx="1170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3366CC"/>
                </a:solidFill>
                <a:latin typeface="Arial"/>
                <a:ea typeface="Arial"/>
                <a:cs typeface="Arial"/>
                <a:sym typeface="Arial"/>
              </a:rPr>
              <a:t>Claude Shannon</a:t>
            </a:r>
            <a:r>
              <a:rPr lang="en-US" sz="1000" b="0" i="0" u="none" strike="noStrike" cap="none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02503" y="93503"/>
            <a:ext cx="2210462" cy="843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49440" y="73933"/>
            <a:ext cx="2138894" cy="100036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g3edd461d0d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586" y="198804"/>
            <a:ext cx="2050882" cy="738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g3edd461d0d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02503" y="55403"/>
            <a:ext cx="2210462" cy="843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3edd461d0da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49440" y="73933"/>
            <a:ext cx="2138896" cy="1000367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edd461d0da_0_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12" name="Google Shape;112;g3edd461d0da_0_0"/>
          <p:cNvSpPr txBox="1"/>
          <p:nvPr/>
        </p:nvSpPr>
        <p:spPr>
          <a:xfrm>
            <a:off x="3180525" y="1388563"/>
            <a:ext cx="265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</a:rPr>
              <a:t>QUANTUM and ISIT</a:t>
            </a: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g3edd461d0da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2838" y="1884600"/>
            <a:ext cx="8309811" cy="457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g3edd461d0da_0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4381" y="2407700"/>
            <a:ext cx="2570700" cy="19667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15" name="Google Shape;115;g3edd461d0da_0_0"/>
          <p:cNvPicPr preferRelativeResize="0"/>
          <p:nvPr/>
        </p:nvPicPr>
        <p:blipFill rotWithShape="1">
          <a:blip r:embed="rId8">
            <a:alphaModFix/>
          </a:blip>
          <a:srcRect l="15973"/>
          <a:stretch/>
        </p:blipFill>
        <p:spPr>
          <a:xfrm>
            <a:off x="3263189" y="2416519"/>
            <a:ext cx="2483500" cy="200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3edd461d0da_0_0"/>
          <p:cNvPicPr preferRelativeResize="0"/>
          <p:nvPr/>
        </p:nvPicPr>
        <p:blipFill rotWithShape="1">
          <a:blip r:embed="rId9">
            <a:alphaModFix/>
          </a:blip>
          <a:srcRect l="9616" r="6478"/>
          <a:stretch/>
        </p:blipFill>
        <p:spPr>
          <a:xfrm>
            <a:off x="5967198" y="2407700"/>
            <a:ext cx="2570700" cy="196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>
            <a:spLocks noGrp="1"/>
          </p:cNvSpPr>
          <p:nvPr>
            <p:ph type="title"/>
          </p:nvPr>
        </p:nvSpPr>
        <p:spPr>
          <a:xfrm>
            <a:off x="166116" y="142658"/>
            <a:ext cx="8811768" cy="65123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3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Hackathon Organizing Committee </a:t>
            </a:r>
            <a:endParaRPr sz="30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764187" y="1932167"/>
            <a:ext cx="8301162" cy="418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Mohammad Aamir Sohail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University of Michigan, Ann Arbor, 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sng" strike="noStrike" cap="non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mdaamir@umich.edu</a:t>
            </a:r>
            <a:endParaRPr sz="1400" b="0" i="0" u="sng" strike="noStrike" cap="non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sng" strike="noStrike" cap="non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Khac-Hoang Ngo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Linköping University, Sweden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khac-hoang.ngo@liu.se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Xiongfeng Ma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Tsinghua University, China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xma@tsinghua.edu.cn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Fei Shi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Sun Yat-Sen University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China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shif26@mail.sysu.edu.cn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 Wang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University of Science and Technology of China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yewang2022@ustc.edu.cn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2639832" y="1011381"/>
            <a:ext cx="386433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IEEE Information Theory Society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Student &amp; Outreach Subcommittee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8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>
            <a:spLocks noGrp="1"/>
          </p:cNvSpPr>
          <p:nvPr>
            <p:ph type="body" idx="1"/>
          </p:nvPr>
        </p:nvSpPr>
        <p:spPr>
          <a:xfrm>
            <a:off x="457200" y="2480806"/>
            <a:ext cx="8321040" cy="3991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57200" lvl="0" indent="-34290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0357"/>
              <a:buChar char="•"/>
            </a:pPr>
            <a:r>
              <a:rPr lang="en-US"/>
              <a:t>Established in 2009, originated from the University of Science and Technology of China </a:t>
            </a:r>
            <a:endParaRPr/>
          </a:p>
          <a:p>
            <a:pPr marL="457200" lvl="0" indent="-22860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0357"/>
              <a:buNone/>
            </a:pPr>
            <a:endParaRPr/>
          </a:p>
          <a:p>
            <a:pPr marL="457200" lvl="0" indent="-34290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0357"/>
              <a:buChar char="•"/>
            </a:pPr>
            <a:r>
              <a:rPr lang="en-US"/>
              <a:t>Held by China Telecom Quantum Group, a wholly-owned subsidiary of China Telecom</a:t>
            </a:r>
            <a:endParaRPr/>
          </a:p>
          <a:p>
            <a:pPr marL="457200" lvl="0" indent="-22860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0357"/>
              <a:buNone/>
            </a:pPr>
            <a:endParaRPr/>
          </a:p>
          <a:p>
            <a:pPr marL="457200" lvl="0" indent="-34290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0357"/>
              <a:buChar char="•"/>
            </a:pPr>
            <a:r>
              <a:rPr lang="en-US"/>
              <a:t>Listed on the Science and Technology Innovation Board in 2020 as the first stock of quantum technology</a:t>
            </a:r>
            <a:endParaRPr/>
          </a:p>
          <a:p>
            <a:pPr marL="457200" lvl="0" indent="-22860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0357"/>
              <a:buNone/>
            </a:pPr>
            <a:endParaRPr/>
          </a:p>
          <a:p>
            <a:pPr marL="457200" lvl="0" indent="-34290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0357"/>
              <a:buChar char="•"/>
            </a:pPr>
            <a:r>
              <a:rPr lang="en-US"/>
              <a:t>One of the very few companies in the world with large-scale industrialization capabilities in all three major directions of quantum information: quantum communication, quantum computing, and quantum measurement.</a:t>
            </a:r>
            <a:endParaRPr/>
          </a:p>
        </p:txBody>
      </p:sp>
      <p:sp>
        <p:nvSpPr>
          <p:cNvPr id="130" name="Google Shape;130;p23"/>
          <p:cNvSpPr txBox="1">
            <a:spLocks noGrp="1"/>
          </p:cNvSpPr>
          <p:nvPr>
            <p:ph type="title"/>
          </p:nvPr>
        </p:nvSpPr>
        <p:spPr>
          <a:xfrm>
            <a:off x="166116" y="142658"/>
            <a:ext cx="8811768" cy="65123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3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Prize Sponsor</a:t>
            </a:r>
            <a:endParaRPr sz="30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29773" y="984070"/>
            <a:ext cx="3484453" cy="111933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3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>
            <a:spLocks noGrp="1"/>
          </p:cNvSpPr>
          <p:nvPr>
            <p:ph type="title"/>
          </p:nvPr>
        </p:nvSpPr>
        <p:spPr>
          <a:xfrm>
            <a:off x="166116" y="299022"/>
            <a:ext cx="8811768" cy="1143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3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Theme</a:t>
            </a:r>
            <a:r>
              <a:rPr lang="en-US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30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Quantum Algorithms for Signal Processing, Communication, and Learning</a:t>
            </a:r>
            <a:endParaRPr sz="30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9"/>
          <p:cNvSpPr txBox="1">
            <a:spLocks noGrp="1"/>
          </p:cNvSpPr>
          <p:nvPr>
            <p:ph type="body" idx="1"/>
          </p:nvPr>
        </p:nvSpPr>
        <p:spPr>
          <a:xfrm>
            <a:off x="166116" y="1650404"/>
            <a:ext cx="8685276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7500" lnSpcReduction="20000"/>
          </a:bodyPr>
          <a:lstStyle/>
          <a:p>
            <a:pPr marL="114300" lvl="0" indent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52376"/>
              <a:buNone/>
            </a:pPr>
            <a:r>
              <a:rPr lang="en-US"/>
              <a:t>🔹 </a:t>
            </a:r>
            <a:r>
              <a:rPr lang="en-US" sz="4200">
                <a:solidFill>
                  <a:srgbClr val="366092"/>
                </a:solidFill>
              </a:rPr>
              <a:t>Use quantum computing to solve classical challenges in communication, signal processing, and machine learning.</a:t>
            </a:r>
            <a:endParaRPr sz="4200">
              <a:solidFill>
                <a:srgbClr val="366092"/>
              </a:solidFill>
            </a:endParaRPr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18421"/>
              <a:buNone/>
            </a:pP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18421"/>
              <a:buNone/>
            </a:pP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0717"/>
              <a:buNone/>
            </a:pPr>
            <a:r>
              <a:rPr lang="en-US" b="1"/>
              <a:t>🎯 </a:t>
            </a:r>
            <a:r>
              <a:rPr lang="en-US" sz="3800" b="1">
                <a:solidFill>
                  <a:srgbClr val="C00000"/>
                </a:solidFill>
              </a:rPr>
              <a:t>Why this matters</a:t>
            </a:r>
            <a:r>
              <a:rPr lang="en-US" sz="3800" b="1"/>
              <a:t>:</a:t>
            </a:r>
            <a:endParaRPr sz="3800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99722"/>
              <a:buChar char="•"/>
            </a:pPr>
            <a:r>
              <a:rPr lang="en-US" sz="3800"/>
              <a:t>Quantum methods can </a:t>
            </a:r>
            <a:r>
              <a:rPr lang="en-US" sz="3800" i="1"/>
              <a:t>enhance error resilience </a:t>
            </a:r>
            <a:r>
              <a:rPr lang="en-US" sz="3800"/>
              <a:t>in communication systems.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99722"/>
              <a:buChar char="•"/>
            </a:pPr>
            <a:r>
              <a:rPr lang="en-US" sz="3800"/>
              <a:t>Quantum machine learning offers </a:t>
            </a:r>
            <a:r>
              <a:rPr lang="en-US" sz="3800" i="1"/>
              <a:t>compact models </a:t>
            </a:r>
            <a:r>
              <a:rPr lang="en-US" sz="3800"/>
              <a:t>for signal denoising and pattern recognition.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99722"/>
              <a:buChar char="•"/>
            </a:pPr>
            <a:r>
              <a:rPr lang="en-US" sz="3800"/>
              <a:t>Hybrid quantum-classical algorithms help solve </a:t>
            </a:r>
            <a:r>
              <a:rPr lang="en-US" sz="3800" i="1"/>
              <a:t>optimization problems </a:t>
            </a:r>
            <a:r>
              <a:rPr lang="en-US" sz="3800"/>
              <a:t>in networks and coding faster.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99722"/>
              <a:buNone/>
            </a:pPr>
            <a:endParaRPr sz="3800"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99722"/>
              <a:buNone/>
            </a:pPr>
            <a:r>
              <a:rPr lang="en-US" sz="3800" b="1"/>
              <a:t>🧪 </a:t>
            </a:r>
            <a:r>
              <a:rPr lang="en-US" sz="3800" b="1">
                <a:solidFill>
                  <a:srgbClr val="76923C"/>
                </a:solidFill>
              </a:rPr>
              <a:t>Examples</a:t>
            </a:r>
            <a:r>
              <a:rPr lang="en-US" sz="3800" b="1"/>
              <a:t>:</a:t>
            </a:r>
            <a:endParaRPr sz="3800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99722"/>
              <a:buFont typeface="Arial"/>
              <a:buChar char="•"/>
            </a:pPr>
            <a:r>
              <a:rPr lang="en-US" sz="3800"/>
              <a:t>Design a </a:t>
            </a:r>
            <a:r>
              <a:rPr lang="en-US" sz="3800" i="1"/>
              <a:t>quantum-inspired LDPC decoder</a:t>
            </a:r>
            <a:r>
              <a:rPr lang="en-US" sz="3800"/>
              <a:t> for classical channels with burst noise.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99722"/>
              <a:buFont typeface="Arial"/>
              <a:buChar char="•"/>
            </a:pPr>
            <a:r>
              <a:rPr lang="en-US" sz="3800"/>
              <a:t>Use </a:t>
            </a:r>
            <a:r>
              <a:rPr lang="en-US" sz="3800" i="1"/>
              <a:t>variational quantum classifiers </a:t>
            </a:r>
            <a:r>
              <a:rPr lang="en-US" sz="3800"/>
              <a:t>for anomaly detection in bio-signals or radio signals.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99722"/>
              <a:buFont typeface="Arial"/>
              <a:buChar char="•"/>
            </a:pPr>
            <a:r>
              <a:rPr lang="en-US" sz="3800"/>
              <a:t>Apply </a:t>
            </a:r>
            <a:r>
              <a:rPr lang="en-US" sz="3800" i="1"/>
              <a:t>QAOA</a:t>
            </a:r>
            <a:r>
              <a:rPr lang="en-US" sz="3800"/>
              <a:t> to optimize routing in a dynamically changing communication network.</a:t>
            </a:r>
            <a:endParaRPr/>
          </a:p>
        </p:txBody>
      </p:sp>
      <p:sp>
        <p:nvSpPr>
          <p:cNvPr id="139" name="Google Shape;139;p19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40" name="Google Shape;140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6392867"/>
            <a:ext cx="1218730" cy="465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04014" y="6392867"/>
            <a:ext cx="1011990" cy="473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>
            <a:spLocks noGrp="1"/>
          </p:cNvSpPr>
          <p:nvPr>
            <p:ph type="body" idx="1"/>
          </p:nvPr>
        </p:nvSpPr>
        <p:spPr>
          <a:xfrm>
            <a:off x="166116" y="1461247"/>
            <a:ext cx="8691013" cy="3827930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550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90000"/>
              <a:buNone/>
            </a:pP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90000"/>
              <a:buNone/>
            </a:pPr>
            <a:r>
              <a:rPr lang="en-US"/>
              <a:t>📅 </a:t>
            </a:r>
            <a:r>
              <a:rPr lang="en-US" b="1"/>
              <a:t>Pre-Hackathon Tutorials</a:t>
            </a:r>
            <a:r>
              <a:rPr lang="en-US"/>
              <a:t>: June 22–23 (Virtual) — Quantum 101, Quantum Computing Platforms, Quantum Algorithms, Quantum Machine Learning, Quantum Error Correction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90000"/>
              <a:buNone/>
            </a:pPr>
            <a:r>
              <a:rPr lang="en-US"/>
              <a:t>✅ </a:t>
            </a:r>
            <a:r>
              <a:rPr lang="en-US">
                <a:solidFill>
                  <a:srgbClr val="FF0000"/>
                </a:solidFill>
              </a:rPr>
              <a:t>Highly recommended to attend!</a:t>
            </a:r>
            <a:r>
              <a:rPr lang="en-US"/>
              <a:t> — Sessions will be recorded and shared.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90000"/>
              <a:buNone/>
            </a:pP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90000"/>
              <a:buNone/>
            </a:pPr>
            <a:r>
              <a:rPr lang="en-US"/>
              <a:t>📅 </a:t>
            </a:r>
            <a:r>
              <a:rPr lang="en-US" b="1"/>
              <a:t>June 24</a:t>
            </a:r>
            <a:r>
              <a:rPr lang="en-US"/>
              <a:t>: Lightning talks &amp; interactive networking sessions.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90000"/>
              <a:buNone/>
            </a:pP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90000"/>
              <a:buNone/>
            </a:pPr>
            <a:r>
              <a:rPr lang="en-US"/>
              <a:t>🎤 </a:t>
            </a:r>
            <a:r>
              <a:rPr lang="en-US" b="1"/>
              <a:t>June 28 </a:t>
            </a:r>
            <a:r>
              <a:rPr lang="en-US"/>
              <a:t>(Sunday): Keynote expert talks.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90000"/>
              <a:buNone/>
            </a:pPr>
            <a:r>
              <a:rPr lang="en-US"/>
              <a:t>📅 </a:t>
            </a:r>
            <a:r>
              <a:rPr lang="en-US" b="1"/>
              <a:t>June 28</a:t>
            </a:r>
            <a:r>
              <a:rPr lang="en-US"/>
              <a:t>: Napkin Pitch Session — present your team’s idea briefly!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90000"/>
              <a:buNone/>
            </a:pP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90000"/>
              <a:buNone/>
            </a:pPr>
            <a:r>
              <a:rPr lang="en-US"/>
              <a:t>📅 </a:t>
            </a:r>
            <a:r>
              <a:rPr lang="en-US" b="1"/>
              <a:t>June 29–30</a:t>
            </a:r>
            <a:r>
              <a:rPr lang="en-US"/>
              <a:t>: Develop your hack!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90000"/>
              <a:buNone/>
            </a:pP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90000"/>
              <a:buNone/>
            </a:pPr>
            <a:r>
              <a:rPr lang="en-US"/>
              <a:t>📅 </a:t>
            </a:r>
            <a:r>
              <a:rPr lang="en-US" b="1"/>
              <a:t>July 01 </a:t>
            </a:r>
            <a:r>
              <a:rPr lang="en-US"/>
              <a:t>(Wednesday): Final Presentations — showcase your quantum hack!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90000"/>
              <a:buNone/>
            </a:pPr>
            <a:endParaRPr/>
          </a:p>
        </p:txBody>
      </p:sp>
      <p:sp>
        <p:nvSpPr>
          <p:cNvPr id="147" name="Google Shape;147;p20"/>
          <p:cNvSpPr txBox="1">
            <a:spLocks noGrp="1"/>
          </p:cNvSpPr>
          <p:nvPr>
            <p:ph type="title"/>
          </p:nvPr>
        </p:nvSpPr>
        <p:spPr>
          <a:xfrm>
            <a:off x="166116" y="299022"/>
            <a:ext cx="8811768" cy="65123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3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Navigating Hackathon Schedule</a:t>
            </a:r>
            <a:endParaRPr sz="30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0"/>
          <p:cNvSpPr txBox="1"/>
          <p:nvPr/>
        </p:nvSpPr>
        <p:spPr>
          <a:xfrm>
            <a:off x="1981199" y="5694092"/>
            <a:ext cx="5638801" cy="307777"/>
          </a:xfrm>
          <a:prstGeom prst="rect">
            <a:avLst/>
          </a:prstGeom>
          <a:solidFill>
            <a:srgbClr val="DAEEF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43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See the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ISIT 2026 Quantum Hackathon Schedule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further details!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20" descr="Clock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52599" y="56193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51" name="Google Shape;151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" y="6392867"/>
            <a:ext cx="1218730" cy="465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04014" y="6392867"/>
            <a:ext cx="1011990" cy="473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/>
          <p:nvPr/>
        </p:nvSpPr>
        <p:spPr>
          <a:xfrm>
            <a:off x="2286000" y="3277739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1"/>
          <p:cNvSpPr txBox="1"/>
          <p:nvPr/>
        </p:nvSpPr>
        <p:spPr>
          <a:xfrm>
            <a:off x="420177" y="1256629"/>
            <a:ext cx="8481900" cy="52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🌟 </a:t>
            </a:r>
            <a:r>
              <a:rPr lang="en-US" sz="2200" b="1" i="0" u="none" strike="noStrike" cap="non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Top Awards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9845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🥇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Quantum </a:t>
            </a:r>
            <a:r>
              <a:rPr lang="en-US" sz="1800" b="1" i="0" u="none" strike="noStrike" cap="none">
                <a:solidFill>
                  <a:srgbClr val="F1C232"/>
                </a:solidFill>
                <a:latin typeface="Arial"/>
                <a:ea typeface="Arial"/>
                <a:cs typeface="Arial"/>
                <a:sym typeface="Arial"/>
              </a:rPr>
              <a:t>Gold</a:t>
            </a: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Award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$350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🥈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Quantum </a:t>
            </a:r>
            <a:r>
              <a:rPr lang="en-US" sz="1800" b="1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Silver</a:t>
            </a: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Award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$250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🥉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Quantum </a:t>
            </a:r>
            <a:r>
              <a:rPr lang="en-US" sz="1800" b="1" i="0" u="none" strike="noStrike" cap="none">
                <a:solidFill>
                  <a:srgbClr val="A61C00"/>
                </a:solidFill>
                <a:latin typeface="Arial"/>
                <a:ea typeface="Arial"/>
                <a:cs typeface="Arial"/>
                <a:sym typeface="Arial"/>
              </a:rPr>
              <a:t>Bronze</a:t>
            </a: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Award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$200</a:t>
            </a:r>
            <a:b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🗳️ 2 x </a:t>
            </a:r>
            <a:r>
              <a:rPr lang="en-US" sz="1800" b="1" i="0" u="none" strike="noStrike" cap="non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Observer’s Choice Award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x $100</a:t>
            </a:r>
            <a:endParaRPr sz="1800"/>
          </a:p>
          <a:p>
            <a:pPr marL="914400" marR="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-US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Voted by participants and attendees – the crowd favorites!</a:t>
            </a:r>
            <a:endParaRPr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🏅 </a:t>
            </a:r>
            <a:r>
              <a:rPr lang="en-US" b="1" i="1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All Winners Receive Digital Certificates of Achievement</a:t>
            </a:r>
            <a:br>
              <a:rPr lang="en-US" b="1" i="1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🎓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Certificate of Participation </a:t>
            </a: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Awarded to </a:t>
            </a:r>
            <a:r>
              <a:rPr lang="en-US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everyone</a:t>
            </a:r>
            <a:r>
              <a:rPr lang="en-US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who </a:t>
            </a:r>
            <a:r>
              <a:rPr lang="en-US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completes</a:t>
            </a:r>
            <a:r>
              <a:rPr lang="en-US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hackathon</a:t>
            </a:r>
            <a:r>
              <a:rPr lang="en-US"/>
              <a:t>*</a:t>
            </a:r>
            <a:r>
              <a:rPr lang="en-US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(*present </a:t>
            </a:r>
            <a:r>
              <a:rPr lang="en-US"/>
              <a:t>at</a:t>
            </a:r>
            <a:r>
              <a:rPr lang="en-US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final event).</a:t>
            </a:r>
            <a:b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1"/>
          <p:cNvSpPr txBox="1">
            <a:spLocks noGrp="1"/>
          </p:cNvSpPr>
          <p:nvPr>
            <p:ph type="title"/>
          </p:nvPr>
        </p:nvSpPr>
        <p:spPr>
          <a:xfrm>
            <a:off x="166116" y="299022"/>
            <a:ext cx="8811768" cy="65123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8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🏆 Prizes &amp; Recognition</a:t>
            </a:r>
            <a:endParaRPr sz="28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1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61" name="Google Shape;161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6392867"/>
            <a:ext cx="1218730" cy="465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04014" y="6392867"/>
            <a:ext cx="1011990" cy="473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"/>
          <p:cNvSpPr txBox="1">
            <a:spLocks noGrp="1"/>
          </p:cNvSpPr>
          <p:nvPr>
            <p:ph type="body" idx="1"/>
          </p:nvPr>
        </p:nvSpPr>
        <p:spPr>
          <a:xfrm>
            <a:off x="342725" y="1165950"/>
            <a:ext cx="8458549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endParaRPr sz="2200"/>
          </a:p>
          <a:p>
            <a:pPr marL="342900" lvl="0" indent="-2794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Each team will deliver a 10-minute presentation followed by 2 minutes of Q&amp;A.</a:t>
            </a:r>
            <a:endParaRPr sz="2200"/>
          </a:p>
          <a:p>
            <a:pPr marL="342900" lvl="0" indent="-2794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🗣️ At least one team member must present live during the session.</a:t>
            </a:r>
            <a:endParaRPr sz="2200"/>
          </a:p>
          <a:p>
            <a:pPr marL="342900" lvl="0" indent="-2794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✅ Final Presentation Slides Due: </a:t>
            </a:r>
            <a:r>
              <a:rPr lang="en-US" sz="2200" b="1"/>
              <a:t>By 08:00 AM UTC+8, July 01, 2026</a:t>
            </a:r>
            <a:endParaRPr sz="2200" b="1"/>
          </a:p>
          <a:p>
            <a:pPr marL="342900" lvl="0" indent="-2794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🎥 Presentation Videos (Optional): Upload by the same deadline only if a live presentation </a:t>
            </a:r>
            <a:r>
              <a:rPr lang="en-US" sz="2200" b="1"/>
              <a:t>isn't possible</a:t>
            </a:r>
            <a:r>
              <a:rPr lang="en-US" sz="2200"/>
              <a:t>.</a:t>
            </a: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endParaRPr sz="2200"/>
          </a:p>
        </p:txBody>
      </p:sp>
      <p:sp>
        <p:nvSpPr>
          <p:cNvPr id="168" name="Google Shape;168;p2"/>
          <p:cNvSpPr txBox="1"/>
          <p:nvPr/>
        </p:nvSpPr>
        <p:spPr>
          <a:xfrm>
            <a:off x="178866" y="160200"/>
            <a:ext cx="8811768" cy="571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3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Final Presentation Format &amp; Deadlines</a:t>
            </a:r>
            <a:endParaRPr sz="30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70" name="Google Shape;17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6392867"/>
            <a:ext cx="1218730" cy="465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04014" y="6392867"/>
            <a:ext cx="1011990" cy="473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"/>
          <p:cNvSpPr txBox="1">
            <a:spLocks noGrp="1"/>
          </p:cNvSpPr>
          <p:nvPr>
            <p:ph type="body" idx="1"/>
          </p:nvPr>
        </p:nvSpPr>
        <p:spPr>
          <a:xfrm>
            <a:off x="349623" y="1220570"/>
            <a:ext cx="8489093" cy="3618753"/>
          </a:xfrm>
          <a:prstGeom prst="rect">
            <a:avLst/>
          </a:prstGeom>
          <a:solidFill>
            <a:srgbClr val="FDE9D8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2500" b="1">
                <a:solidFill>
                  <a:srgbClr val="3F3F3F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1. Team Name + Members &amp; Roles</a:t>
            </a:r>
            <a:endParaRPr sz="2500" b="1">
              <a:solidFill>
                <a:srgbClr val="3F3F3F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2500" b="1">
                <a:solidFill>
                  <a:srgbClr val="3F3F3F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2. Problem Statement</a:t>
            </a:r>
            <a:endParaRPr sz="2500" b="1">
              <a:solidFill>
                <a:srgbClr val="3F3F3F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2500" b="1">
                <a:solidFill>
                  <a:srgbClr val="3F3F3F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3. Quantum Approach (Algorithm or Protocol)</a:t>
            </a:r>
            <a:endParaRPr sz="2500" b="1">
              <a:solidFill>
                <a:srgbClr val="3F3F3F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2500" b="1">
                <a:solidFill>
                  <a:srgbClr val="3F3F3F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4. Implementation &amp; Tools (e.g., Qiskit, Cirq, PennyLane)</a:t>
            </a:r>
            <a:endParaRPr sz="2500" b="1">
              <a:solidFill>
                <a:srgbClr val="3F3F3F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2500" b="1">
                <a:solidFill>
                  <a:srgbClr val="3F3F3F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5. Challenges &amp; Mitigations</a:t>
            </a:r>
            <a:endParaRPr sz="2500" b="1">
              <a:solidFill>
                <a:srgbClr val="3F3F3F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2500" b="1">
                <a:solidFill>
                  <a:srgbClr val="3F3F3F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6. Impact &amp; Future Work</a:t>
            </a:r>
            <a:endParaRPr sz="2500" b="1">
              <a:solidFill>
                <a:srgbClr val="3F3F3F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2500" b="1">
                <a:solidFill>
                  <a:srgbClr val="3F3F3F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7. (Optional) Demo Video (1–2 mins)</a:t>
            </a:r>
            <a:endParaRPr sz="2500" b="1">
              <a:solidFill>
                <a:srgbClr val="3F3F3F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  <p:sp>
        <p:nvSpPr>
          <p:cNvPr id="177" name="Google Shape;177;p4"/>
          <p:cNvSpPr txBox="1"/>
          <p:nvPr/>
        </p:nvSpPr>
        <p:spPr>
          <a:xfrm>
            <a:off x="178866" y="160200"/>
            <a:ext cx="8811768" cy="571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3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Recommended Slide Structure</a:t>
            </a:r>
            <a:endParaRPr sz="30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"/>
          <p:cNvSpPr txBox="1"/>
          <p:nvPr/>
        </p:nvSpPr>
        <p:spPr>
          <a:xfrm>
            <a:off x="2298750" y="5833875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Link to Final Presentation Template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4" descr="Presentation with bar chart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73250" y="5622781"/>
            <a:ext cx="822181" cy="822181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4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81" name="Google Shape;181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" y="6392867"/>
            <a:ext cx="1218730" cy="465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04014" y="6392867"/>
            <a:ext cx="1011990" cy="473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"/>
          <p:cNvSpPr txBox="1">
            <a:spLocks noGrp="1"/>
          </p:cNvSpPr>
          <p:nvPr>
            <p:ph type="body" idx="1"/>
          </p:nvPr>
        </p:nvSpPr>
        <p:spPr>
          <a:xfrm>
            <a:off x="178866" y="1166018"/>
            <a:ext cx="8866094" cy="725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/>
              <a:t>Reach out via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Slack Channel</a:t>
            </a:r>
            <a:r>
              <a:rPr lang="en-US"/>
              <a:t> if you need any help!</a:t>
            </a:r>
            <a:endParaRPr/>
          </a:p>
        </p:txBody>
      </p:sp>
      <p:sp>
        <p:nvSpPr>
          <p:cNvPr id="188" name="Google Shape;188;p5"/>
          <p:cNvSpPr txBox="1"/>
          <p:nvPr/>
        </p:nvSpPr>
        <p:spPr>
          <a:xfrm>
            <a:off x="178866" y="149567"/>
            <a:ext cx="8811768" cy="72553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💡 </a:t>
            </a:r>
            <a:r>
              <a:rPr lang="en-US" sz="3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Need Help? We're Here for You!</a:t>
            </a:r>
            <a:endParaRPr sz="3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5"/>
          <p:cNvSpPr txBox="1"/>
          <p:nvPr/>
        </p:nvSpPr>
        <p:spPr>
          <a:xfrm>
            <a:off x="1102657" y="2256483"/>
            <a:ext cx="6085321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Hackathon Committee Representatives: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2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525975"/>
                </a:solidFill>
                <a:latin typeface="Arial"/>
                <a:ea typeface="Arial"/>
                <a:cs typeface="Arial"/>
                <a:sym typeface="Arial"/>
              </a:rPr>
              <a:t>Mohammad Aamir Sohail — </a:t>
            </a:r>
            <a:r>
              <a:rPr lang="en-US" sz="1400" b="0" i="0" u="sng" strike="noStrike" cap="non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mdaamir@umich.edu</a:t>
            </a:r>
            <a:r>
              <a:rPr lang="en-US" sz="1400" b="0" i="0" u="none" strike="noStrike" cap="none">
                <a:solidFill>
                  <a:srgbClr val="525975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525975"/>
                </a:solidFill>
                <a:latin typeface="Arial"/>
                <a:ea typeface="Arial"/>
                <a:cs typeface="Arial"/>
                <a:sym typeface="Arial"/>
              </a:rPr>
              <a:t>Khac-Hoang Ngo — </a:t>
            </a:r>
            <a:r>
              <a:rPr lang="en-US" sz="1400" b="0" i="0" u="sng" strike="noStrike" cap="non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stefano.rini@nycu.edu.tw</a:t>
            </a:r>
            <a:endParaRPr sz="1400" b="0" i="0" u="sng" strike="noStrike" cap="non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525975"/>
                </a:solidFill>
                <a:latin typeface="Arial"/>
                <a:ea typeface="Arial"/>
                <a:cs typeface="Arial"/>
                <a:sym typeface="Arial"/>
              </a:rPr>
              <a:t>Fei Shi — </a:t>
            </a:r>
            <a:r>
              <a:rPr lang="en-US" sz="14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shif26@mail.sysu.edu.cn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5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191" name="Google Shape;191;p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" y="6392867"/>
            <a:ext cx="1218730" cy="465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04014" y="6392867"/>
            <a:ext cx="1011990" cy="473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 txBox="1">
            <a:spLocks noGrp="1"/>
          </p:cNvSpPr>
          <p:nvPr>
            <p:ph type="body" idx="1"/>
          </p:nvPr>
        </p:nvSpPr>
        <p:spPr>
          <a:xfrm>
            <a:off x="166116" y="1358155"/>
            <a:ext cx="881176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👋 Introduce yourself: name, school/company, area of interest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500">
              <a:latin typeface="Arial"/>
              <a:ea typeface="Arial"/>
              <a:cs typeface="Arial"/>
              <a:sym typeface="Arial"/>
            </a:endParaRPr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🧊</a:t>
            </a:r>
            <a:r>
              <a:rPr lang="en-US" sz="2500" b="1">
                <a:latin typeface="Arial"/>
                <a:ea typeface="Arial"/>
                <a:cs typeface="Arial"/>
                <a:sym typeface="Arial"/>
              </a:rPr>
              <a:t>icebreaker</a:t>
            </a:r>
            <a:r>
              <a:rPr lang="en-US" sz="2500">
                <a:latin typeface="Arial"/>
                <a:ea typeface="Arial"/>
                <a:cs typeface="Arial"/>
                <a:sym typeface="Arial"/>
              </a:rPr>
              <a:t>: </a:t>
            </a:r>
            <a:endParaRPr/>
          </a:p>
          <a:p>
            <a:pPr marL="114300" lvl="0" indent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If quantum were a flavor, what would it taste like?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500">
              <a:latin typeface="Arial"/>
              <a:ea typeface="Arial"/>
              <a:cs typeface="Arial"/>
              <a:sym typeface="Arial"/>
            </a:endParaRPr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🌍 If you could solve one global social problem using quantum, what would it be?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500">
              <a:latin typeface="Arial"/>
              <a:ea typeface="Arial"/>
              <a:cs typeface="Arial"/>
              <a:sym typeface="Arial"/>
            </a:endParaRPr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👤 What's one misconception people have about quantum computing?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500">
              <a:latin typeface="Arial"/>
              <a:ea typeface="Arial"/>
              <a:cs typeface="Arial"/>
              <a:sym typeface="Arial"/>
            </a:endParaRPr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📸 Share a fun fact about your city!</a:t>
            </a:r>
            <a:endParaRPr/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2"/>
          <p:cNvSpPr txBox="1"/>
          <p:nvPr/>
        </p:nvSpPr>
        <p:spPr>
          <a:xfrm>
            <a:off x="80750" y="160200"/>
            <a:ext cx="8910000" cy="571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🧩 </a:t>
            </a:r>
            <a:r>
              <a:rPr lang="en-US" sz="3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Breakout Session: Connect, Share &amp; Spark Ideas!</a:t>
            </a:r>
            <a:endParaRPr sz="3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2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200" name="Google Shape;200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6392867"/>
            <a:ext cx="1218730" cy="465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04014" y="6392867"/>
            <a:ext cx="1011990" cy="473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876</Words>
  <Application>Microsoft Office PowerPoint</Application>
  <PresentationFormat>On-screen Show (4:3)</PresentationFormat>
  <Paragraphs>125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Architects Daughter</vt:lpstr>
      <vt:lpstr>Calibri</vt:lpstr>
      <vt:lpstr>Arial</vt:lpstr>
      <vt:lpstr>Helvetica Neue</vt:lpstr>
      <vt:lpstr>Office Theme</vt:lpstr>
      <vt:lpstr>Welcome to the  ISIT26 Quantum Hackathon</vt:lpstr>
      <vt:lpstr>PowerPoint Presentation</vt:lpstr>
      <vt:lpstr>PowerPoint Presentation</vt:lpstr>
      <vt:lpstr>Hackathon Organizing Committee </vt:lpstr>
      <vt:lpstr>Prize Sponsor</vt:lpstr>
      <vt:lpstr>Theme: Quantum Algorithms for Signal Processing, Communication, and Learning</vt:lpstr>
      <vt:lpstr>Navigating Hackathon Schedule</vt:lpstr>
      <vt:lpstr>🏆 Prizes &amp; Recognition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Ghost 自然选择</cp:lastModifiedBy>
  <cp:revision>1</cp:revision>
  <dcterms:created xsi:type="dcterms:W3CDTF">2013-01-27T09:14:16Z</dcterms:created>
  <dcterms:modified xsi:type="dcterms:W3CDTF">2026-06-27T15:56:06Z</dcterms:modified>
</cp:coreProperties>
</file>