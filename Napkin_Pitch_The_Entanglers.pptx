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gIEdGWzyZzOGkLY9pp+Gl7VES9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49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37098"/>
            <a:ext cx="91440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80000"/>
                </a:solidFill>
                <a:latin typeface="Calibri"/>
                <a:ea typeface="Calibri"/>
                <a:cs typeface="Calibri"/>
                <a:sym typeface="Calibri"/>
              </a:rPr>
              <a:t>🚀 Quantum-Boosted Channel Allocation for Dense Small-Cell Networks</a:t>
            </a:r>
            <a:endParaRPr lang="en-US" sz="2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Google Shape;85;p1"/>
              <p:cNvSpPr txBox="1"/>
              <p:nvPr/>
            </p:nvSpPr>
            <p:spPr>
              <a:xfrm>
                <a:off x="3619771" y="1521814"/>
                <a:ext cx="5063741" cy="861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i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Channel Allocation in Dense Small-Cell Networks</a:t>
                </a: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=</m:t>
                    </m:r>
                  </m:oMath>
                </a14:m>
                <a:r>
                  <a:rPr lang="en-US" sz="1600" i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US" altLang="zh-CN" sz="1600" i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r>
                  <a:rPr lang="en-US" sz="1600" i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eighted Graph Coloring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→</m:t>
                    </m:r>
                  </m:oMath>
                </a14:m>
                <a:r>
                  <a:rPr lang="en-US" sz="1600" i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QUBO (NP-hard)</a:t>
                </a: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600" i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Graph Shifts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→</m:t>
                    </m:r>
                  </m:oMath>
                </a14:m>
                <a:r>
                  <a:rPr lang="en-US" altLang="zh-CN" sz="1600" i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QUBO re-solved every snapshot</a:t>
                </a:r>
                <a:endParaRPr lang="zh-CN" altLang="en-US" sz="16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>
          <p:sp>
            <p:nvSpPr>
              <p:cNvPr id="85" name="Google Shape;85;p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771" y="1521814"/>
                <a:ext cx="5063741" cy="861734"/>
              </a:xfrm>
              <a:prstGeom prst="rect">
                <a:avLst/>
              </a:prstGeom>
              <a:blipFill>
                <a:blip r:embed="rId3"/>
                <a:stretch>
                  <a:fillRect t="-4255" b="-85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Google Shape;86;p1"/>
          <p:cNvSpPr txBox="1"/>
          <p:nvPr/>
        </p:nvSpPr>
        <p:spPr>
          <a:xfrm>
            <a:off x="782786" y="3336219"/>
            <a:ext cx="2836985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  <a:t>Hack Ingredients:</a:t>
            </a:r>
            <a:br>
              <a:rPr lang="en-US" sz="2600" b="1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782786" y="5384931"/>
            <a:ext cx="233557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Current Status :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82786" y="1686559"/>
            <a:ext cx="217764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Problem: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52450" y="6351212"/>
            <a:ext cx="81343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200" b="1" i="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Hackathon Theme: Solving Problems in Communication and Signal Processing using Quantum Computing</a:t>
            </a:r>
            <a:r>
              <a:rPr lang="en-US" sz="12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2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"/>
          <p:cNvCxnSpPr/>
          <p:nvPr/>
        </p:nvCxnSpPr>
        <p:spPr>
          <a:xfrm>
            <a:off x="207360" y="6258290"/>
            <a:ext cx="8749552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91" name="Google Shape;91;p1"/>
          <p:cNvSpPr txBox="1"/>
          <p:nvPr/>
        </p:nvSpPr>
        <p:spPr>
          <a:xfrm>
            <a:off x="3619769" y="2445232"/>
            <a:ext cx="506374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Hybrid QAOA on the coloring QUBO</a:t>
            </a:r>
          </a:p>
          <a:p>
            <a:pPr algn="ctr"/>
            <a:r>
              <a:rPr lang="zh-CN" altLang="zh-CN" sz="1600" b="1" i="1" dirty="0">
                <a:latin typeface="Calibri" panose="020F0502020204030204" pitchFamily="34" charset="0"/>
                <a:cs typeface="Calibri" panose="020F0502020204030204" pitchFamily="34" charset="0"/>
              </a:rPr>
              <a:t>Warm-start</a:t>
            </a:r>
            <a:r>
              <a:rPr lang="zh-CN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 from prior snapshot solution</a:t>
            </a:r>
            <a:endParaRPr lang="en-US" altLang="zh-CN" sz="16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One-hot vs binary encoding</a:t>
            </a:r>
            <a:endParaRPr lang="zh-CN" altLang="zh-CN" sz="16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82786" y="2390227"/>
            <a:ext cx="228933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Your Solution:</a:t>
            </a:r>
            <a:endParaRPr sz="2800" dirty="0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619769" y="3347639"/>
            <a:ext cx="506374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zh-CN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iskit-</a:t>
            </a:r>
            <a:r>
              <a:rPr lang="en-US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zh-CN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ptimization (WarmStartQAOAOptimizer)</a:t>
            </a:r>
            <a:endParaRPr lang="en-US" altLang="zh-CN" sz="16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zh-CN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iskit-</a:t>
            </a:r>
            <a:r>
              <a:rPr lang="en-US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zh-CN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er (</a:t>
            </a:r>
            <a:r>
              <a:rPr lang="en-US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zh-CN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tatevector </a:t>
            </a:r>
            <a:r>
              <a:rPr lang="en-US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zh-CN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imulator)</a:t>
            </a:r>
          </a:p>
          <a:p>
            <a:pPr algn="ctr"/>
            <a:r>
              <a:rPr lang="en-US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NetworkX (Interference Graphs)</a:t>
            </a:r>
            <a:endParaRPr lang="zh-CN" altLang="zh-CN" sz="16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Google Shape;94;p1"/>
              <p:cNvSpPr txBox="1"/>
              <p:nvPr/>
            </p:nvSpPr>
            <p:spPr>
              <a:xfrm>
                <a:off x="3619769" y="4264656"/>
                <a:ext cx="5063741" cy="830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i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Warm-start QAOA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=</m:t>
                    </m:r>
                  </m:oMath>
                </a14:m>
                <a:r>
                  <a:rPr lang="en-US" sz="1600" i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Cheap incremental re-optimization</a:t>
                </a:r>
                <a:br>
                  <a:rPr lang="en-US" sz="1600" i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600" i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for dynamic QUBOs</a:t>
                </a: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i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Encoding rule for minimum-qubit ansatz</a:t>
                </a:r>
                <a:endParaRPr sz="16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>
          <p:sp>
            <p:nvSpPr>
              <p:cNvPr id="94" name="Google Shape;94;p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769" y="4264656"/>
                <a:ext cx="5063741" cy="830956"/>
              </a:xfrm>
              <a:prstGeom prst="rect">
                <a:avLst/>
              </a:prstGeom>
              <a:blipFill>
                <a:blip r:embed="rId4"/>
                <a:stretch>
                  <a:fillRect t="-2206" b="-88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Google Shape;95;p1"/>
          <p:cNvSpPr txBox="1"/>
          <p:nvPr/>
        </p:nvSpPr>
        <p:spPr>
          <a:xfrm>
            <a:off x="782786" y="4166895"/>
            <a:ext cx="283698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938953"/>
                </a:solidFill>
                <a:latin typeface="Calibri"/>
                <a:ea typeface="Calibri"/>
                <a:cs typeface="Calibri"/>
                <a:sym typeface="Calibri"/>
              </a:rPr>
              <a:t>Unique Value Proposition: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3619769" y="5215674"/>
            <a:ext cx="506374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QUBO validated vs brute force</a:t>
            </a:r>
          </a:p>
          <a:p>
            <a:pPr algn="ctr"/>
            <a:r>
              <a:rPr lang="zh-CN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Warm-start nearer optimum</a:t>
            </a:r>
          </a:p>
          <a:p>
            <a:pPr algn="ctr"/>
            <a:r>
              <a:rPr lang="zh-CN" altLang="zh-CN" sz="1600" i="1" dirty="0">
                <a:latin typeface="Calibri" panose="020F0502020204030204" pitchFamily="34" charset="0"/>
                <a:cs typeface="Calibri" panose="020F0502020204030204" pitchFamily="34" charset="0"/>
              </a:rPr>
              <a:t>Encoding trade-off benchmarked</a:t>
            </a:r>
          </a:p>
        </p:txBody>
      </p:sp>
      <p:cxnSp>
        <p:nvCxnSpPr>
          <p:cNvPr id="97" name="Google Shape;97;p1"/>
          <p:cNvCxnSpPr/>
          <p:nvPr/>
        </p:nvCxnSpPr>
        <p:spPr>
          <a:xfrm>
            <a:off x="207360" y="1346976"/>
            <a:ext cx="8749552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pic>
        <p:nvPicPr>
          <p:cNvPr id="98" name="Google Shape;98;p1" title="Logo.png"/>
          <p:cNvPicPr preferRelativeResize="0"/>
          <p:nvPr/>
        </p:nvPicPr>
        <p:blipFill rotWithShape="1">
          <a:blip r:embed="rId5">
            <a:alphaModFix/>
          </a:blip>
          <a:srcRect l="1597" r="1597"/>
          <a:stretch/>
        </p:blipFill>
        <p:spPr>
          <a:xfrm>
            <a:off x="7407130" y="27718"/>
            <a:ext cx="1696656" cy="8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937612" y="226603"/>
            <a:ext cx="52890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dirty="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ISIT 202</a:t>
            </a:r>
            <a:r>
              <a:rPr lang="en-US" sz="1800" dirty="0">
                <a:solidFill>
                  <a:srgbClr val="953734"/>
                </a:solidFill>
              </a:rPr>
              <a:t>6</a:t>
            </a:r>
            <a:r>
              <a:rPr lang="en-US" sz="1800" dirty="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 Quantum Hackathon : </a:t>
            </a:r>
            <a:r>
              <a:rPr lang="en-US" sz="1800" b="1" dirty="0">
                <a:solidFill>
                  <a:srgbClr val="953734"/>
                </a:solidFill>
              </a:rPr>
              <a:t>The Entanglers</a:t>
            </a:r>
            <a:endParaRPr sz="1800" b="1" dirty="0">
              <a:solidFill>
                <a:srgbClr val="9537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00" y="2325"/>
            <a:ext cx="1532235" cy="5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142</Words>
  <Application>Microsoft Office PowerPoint</Application>
  <PresentationFormat>On-screen Show (4:3)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Ghost 自然选择</cp:lastModifiedBy>
  <cp:revision>13</cp:revision>
  <dcterms:created xsi:type="dcterms:W3CDTF">2013-01-27T09:14:16Z</dcterms:created>
  <dcterms:modified xsi:type="dcterms:W3CDTF">2026-06-27T19:08:04Z</dcterms:modified>
</cp:coreProperties>
</file>